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  <p:sldMasterId id="2147483673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1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1E668D2-18A6-418F-8F41-66742138CD80}">
  <a:tblStyle styleId="{61E668D2-18A6-418F-8F41-66742138CD8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849DDC4-08C7-401E-B6FE-F06BA7C6F0D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88" y="5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5ca34a20e8_9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25ca34a20e8_9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ca34a20e8_3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25ca34a20e8_3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ca34a20e8_39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5ca34a20e8_39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5ca34a20e8_39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25ca34a20e8_39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5ca34a20e8_39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25ca34a20e8_39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ca34a20e8_39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25ca34a20e8_39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ca34a20e8_39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5ca34a20e8_39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5ca34a20e8_39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5ca34a20e8_39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ca34a20e8_39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25ca34a20e8_39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5ca34a20e8_39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25ca34a20e8_39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5ca34a20e8_39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5ca34a20e8_39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5ca34a20e8_3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5ca34a20e8_39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ca34a20e8_39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25ca34a20e8_39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5ca34a20e8_39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25ca34a20e8_39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ca34a20e8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ca34a20e8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459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5ca34a20e8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5ca34a20e8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AUTOLAYOUT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2500" y="4022100"/>
            <a:ext cx="25446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3020725" y="4022100"/>
            <a:ext cx="54516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AUTOLAYOUT_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1" name="Google Shape;101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CE5C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CE5CD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5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7"/>
          <p:cNvSpPr/>
          <p:nvPr/>
        </p:nvSpPr>
        <p:spPr>
          <a:xfrm>
            <a:off x="0" y="3993298"/>
            <a:ext cx="9144000" cy="1209673"/>
          </a:xfrm>
          <a:prstGeom prst="rect">
            <a:avLst/>
          </a:prstGeom>
          <a:solidFill>
            <a:srgbClr val="000000">
              <a:alpha val="4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7"/>
          <p:cNvSpPr txBox="1">
            <a:spLocks noGrp="1"/>
          </p:cNvSpPr>
          <p:nvPr>
            <p:ph type="ctrTitle"/>
          </p:nvPr>
        </p:nvSpPr>
        <p:spPr>
          <a:xfrm>
            <a:off x="2186995" y="4050673"/>
            <a:ext cx="5779438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4400"/>
              <a:t>Data Challenge 2023</a:t>
            </a:r>
            <a:endParaRPr sz="4400"/>
          </a:p>
        </p:txBody>
      </p:sp>
      <p:sp>
        <p:nvSpPr>
          <p:cNvPr id="111" name="Google Shape;111;p27"/>
          <p:cNvSpPr/>
          <p:nvPr/>
        </p:nvSpPr>
        <p:spPr>
          <a:xfrm rot="-5400000">
            <a:off x="1638355" y="4418533"/>
            <a:ext cx="914400" cy="182880"/>
          </a:xfrm>
          <a:prstGeom prst="mathMinus">
            <a:avLst>
              <a:gd name="adj1" fmla="val 23520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>
            <a:spLocks noGrp="1"/>
          </p:cNvSpPr>
          <p:nvPr>
            <p:ph type="title"/>
          </p:nvPr>
        </p:nvSpPr>
        <p:spPr>
          <a:xfrm>
            <a:off x="311700" y="3558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/>
              <a:t>MAIN QUESTIONS OF INTEREST</a:t>
            </a:r>
            <a:endParaRPr b="1"/>
          </a:p>
        </p:txBody>
      </p:sp>
      <p:sp>
        <p:nvSpPr>
          <p:cNvPr id="117" name="Google Shape;117;p28"/>
          <p:cNvSpPr txBox="1">
            <a:spLocks noGrp="1"/>
          </p:cNvSpPr>
          <p:nvPr>
            <p:ph type="body" idx="1"/>
          </p:nvPr>
        </p:nvSpPr>
        <p:spPr>
          <a:xfrm>
            <a:off x="296085" y="944671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  <a:p>
            <a:pPr marL="438150" algn="ctr">
              <a:spcBef>
                <a:spcPts val="1200"/>
              </a:spcBef>
              <a:buClr>
                <a:schemeClr val="dk1"/>
              </a:buClr>
              <a:buSzPts val="2100"/>
            </a:pPr>
            <a:r>
              <a:rPr lang="en-GB" sz="2100" b="1" dirty="0">
                <a:solidFill>
                  <a:srgbClr val="FF0000"/>
                </a:solidFill>
              </a:rPr>
              <a:t>When</a:t>
            </a:r>
            <a:r>
              <a:rPr lang="en-GB" sz="2100" dirty="0">
                <a:solidFill>
                  <a:schemeClr val="dk1"/>
                </a:solidFill>
              </a:rPr>
              <a:t> are scenarios when they </a:t>
            </a:r>
            <a:r>
              <a:rPr lang="en-GB" sz="2100" u="sng" dirty="0">
                <a:solidFill>
                  <a:schemeClr val="dk1"/>
                </a:solidFill>
              </a:rPr>
              <a:t>overestimate</a:t>
            </a:r>
            <a:r>
              <a:rPr lang="en-GB" sz="2100" dirty="0">
                <a:solidFill>
                  <a:schemeClr val="dk1"/>
                </a:solidFill>
              </a:rPr>
              <a:t> the temperature? </a:t>
            </a:r>
            <a:r>
              <a:rPr lang="en-GB" sz="2100" u="sng" dirty="0">
                <a:solidFill>
                  <a:schemeClr val="dk1"/>
                </a:solidFill>
              </a:rPr>
              <a:t>Underestimate</a:t>
            </a:r>
            <a:r>
              <a:rPr lang="en-GB" sz="2100" dirty="0">
                <a:solidFill>
                  <a:schemeClr val="dk1"/>
                </a:solidFill>
              </a:rPr>
              <a:t>?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438150" algn="ctr">
              <a:spcBef>
                <a:spcPts val="1200"/>
              </a:spcBef>
              <a:buClr>
                <a:schemeClr val="dk1"/>
              </a:buClr>
              <a:buSzPts val="2100"/>
            </a:pPr>
            <a:r>
              <a:rPr lang="en-GB" sz="2100" b="1" dirty="0">
                <a:solidFill>
                  <a:srgbClr val="FF0000"/>
                </a:solidFill>
              </a:rPr>
              <a:t>When</a:t>
            </a:r>
            <a:r>
              <a:rPr lang="en-GB" sz="2100" dirty="0">
                <a:solidFill>
                  <a:schemeClr val="dk1"/>
                </a:solidFill>
              </a:rPr>
              <a:t> do weathermen make </a:t>
            </a:r>
            <a:r>
              <a:rPr lang="en-GB" sz="2100" u="sng" dirty="0">
                <a:solidFill>
                  <a:schemeClr val="dk1"/>
                </a:solidFill>
              </a:rPr>
              <a:t>more accurate</a:t>
            </a:r>
            <a:r>
              <a:rPr lang="en-GB" sz="2100" dirty="0">
                <a:solidFill>
                  <a:schemeClr val="dk1"/>
                </a:solidFill>
              </a:rPr>
              <a:t> predictions? 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18" name="Google Shape;118;p28"/>
          <p:cNvSpPr/>
          <p:nvPr/>
        </p:nvSpPr>
        <p:spPr>
          <a:xfrm rot="10800000">
            <a:off x="1218825" y="791718"/>
            <a:ext cx="6675120" cy="9144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>
            <a:spLocks noGrp="1"/>
          </p:cNvSpPr>
          <p:nvPr>
            <p:ph type="title"/>
          </p:nvPr>
        </p:nvSpPr>
        <p:spPr>
          <a:xfrm>
            <a:off x="311700" y="35581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/>
              <a:t>HYPOTHESIS TESTING</a:t>
            </a:r>
            <a:endParaRPr b="1"/>
          </a:p>
        </p:txBody>
      </p:sp>
      <p:sp>
        <p:nvSpPr>
          <p:cNvPr id="124" name="Google Shape;124;p29"/>
          <p:cNvSpPr txBox="1">
            <a:spLocks noGrp="1"/>
          </p:cNvSpPr>
          <p:nvPr>
            <p:ph type="body" idx="1"/>
          </p:nvPr>
        </p:nvSpPr>
        <p:spPr>
          <a:xfrm>
            <a:off x="311700" y="7750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75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75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750" b="1">
                <a:solidFill>
                  <a:schemeClr val="dk1"/>
                </a:solidFill>
              </a:rPr>
              <a:t>H</a:t>
            </a:r>
            <a:r>
              <a:rPr lang="en-GB" sz="2750" b="1" baseline="-25000">
                <a:solidFill>
                  <a:schemeClr val="dk1"/>
                </a:solidFill>
              </a:rPr>
              <a:t>0</a:t>
            </a:r>
            <a:r>
              <a:rPr lang="en-GB" sz="2750">
                <a:solidFill>
                  <a:schemeClr val="dk1"/>
                </a:solidFill>
              </a:rPr>
              <a:t> : μ</a:t>
            </a:r>
            <a:r>
              <a:rPr lang="en-GB" sz="2750" baseline="-25000">
                <a:solidFill>
                  <a:schemeClr val="dk1"/>
                </a:solidFill>
              </a:rPr>
              <a:t>forecast</a:t>
            </a:r>
            <a:r>
              <a:rPr lang="en-GB" sz="2750">
                <a:solidFill>
                  <a:schemeClr val="dk1"/>
                </a:solidFill>
              </a:rPr>
              <a:t> = μ</a:t>
            </a:r>
            <a:r>
              <a:rPr lang="en-GB" sz="2750" baseline="-25000">
                <a:solidFill>
                  <a:schemeClr val="dk1"/>
                </a:solidFill>
              </a:rPr>
              <a:t>observed</a:t>
            </a:r>
            <a:endParaRPr sz="275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2750" b="1">
                <a:solidFill>
                  <a:schemeClr val="dk1"/>
                </a:solidFill>
              </a:rPr>
              <a:t>H</a:t>
            </a:r>
            <a:r>
              <a:rPr lang="en-GB" sz="2750" b="1" baseline="-25000">
                <a:solidFill>
                  <a:schemeClr val="dk1"/>
                </a:solidFill>
              </a:rPr>
              <a:t>1</a:t>
            </a:r>
            <a:r>
              <a:rPr lang="en-GB" sz="2750">
                <a:solidFill>
                  <a:schemeClr val="dk1"/>
                </a:solidFill>
              </a:rPr>
              <a:t> : μ</a:t>
            </a:r>
            <a:r>
              <a:rPr lang="en-GB" sz="2750" baseline="-25000">
                <a:solidFill>
                  <a:schemeClr val="dk1"/>
                </a:solidFill>
              </a:rPr>
              <a:t>forecast</a:t>
            </a:r>
            <a:r>
              <a:rPr lang="en-GB" sz="2750">
                <a:solidFill>
                  <a:schemeClr val="dk1"/>
                </a:solidFill>
              </a:rPr>
              <a:t> ≠ μ</a:t>
            </a:r>
            <a:r>
              <a:rPr lang="en-GB" sz="2750" baseline="-25000">
                <a:solidFill>
                  <a:schemeClr val="dk1"/>
                </a:solidFill>
              </a:rPr>
              <a:t>observed</a:t>
            </a:r>
            <a:endParaRPr sz="2750" baseline="-250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95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2100" b="1">
                <a:solidFill>
                  <a:schemeClr val="dk1"/>
                </a:solidFill>
              </a:rPr>
              <a:t>p-value</a:t>
            </a:r>
            <a:r>
              <a:rPr lang="en-GB" sz="2100">
                <a:solidFill>
                  <a:schemeClr val="dk1"/>
                </a:solidFill>
              </a:rPr>
              <a:t>: 0.0005</a:t>
            </a:r>
            <a:endParaRPr sz="21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∴ </a:t>
            </a:r>
            <a:r>
              <a:rPr lang="en-GB" sz="2100">
                <a:solidFill>
                  <a:schemeClr val="dk1"/>
                </a:solidFill>
              </a:rPr>
              <a:t>We </a:t>
            </a:r>
            <a:r>
              <a:rPr lang="en-GB" sz="2100" b="1">
                <a:solidFill>
                  <a:srgbClr val="FF0000"/>
                </a:solidFill>
              </a:rPr>
              <a:t>reject</a:t>
            </a:r>
            <a:r>
              <a:rPr lang="en-GB" sz="2100">
                <a:solidFill>
                  <a:schemeClr val="dk1"/>
                </a:solidFill>
              </a:rPr>
              <a:t> the null hypothesis here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9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9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2950">
              <a:solidFill>
                <a:schemeClr val="dk1"/>
              </a:solidFill>
            </a:endParaRPr>
          </a:p>
        </p:txBody>
      </p:sp>
      <p:sp>
        <p:nvSpPr>
          <p:cNvPr id="125" name="Google Shape;125;p29"/>
          <p:cNvSpPr/>
          <p:nvPr/>
        </p:nvSpPr>
        <p:spPr>
          <a:xfrm rot="10800000">
            <a:off x="2187493" y="791718"/>
            <a:ext cx="4754880" cy="9144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8925" y="1222715"/>
            <a:ext cx="5146150" cy="295082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30"/>
          <p:cNvSpPr txBox="1"/>
          <p:nvPr/>
        </p:nvSpPr>
        <p:spPr>
          <a:xfrm>
            <a:off x="1673244" y="359699"/>
            <a:ext cx="5797511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GB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BOXPLOT OF PREDICTION ERRORS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0"/>
          <p:cNvSpPr txBox="1"/>
          <p:nvPr/>
        </p:nvSpPr>
        <p:spPr>
          <a:xfrm>
            <a:off x="823350" y="4431073"/>
            <a:ext cx="7497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r>
              <a:rPr lang="en-GB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Forecast temperature – Observed temperature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0"/>
          <p:cNvSpPr/>
          <p:nvPr/>
        </p:nvSpPr>
        <p:spPr>
          <a:xfrm rot="10800000">
            <a:off x="797302" y="801772"/>
            <a:ext cx="7498080" cy="9144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/>
        </p:nvSpPr>
        <p:spPr>
          <a:xfrm>
            <a:off x="424925" y="1086300"/>
            <a:ext cx="7671900" cy="29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Extracting outlier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 errors &lt; first quartile - 1.5 * IQR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 errors &gt; third quartile + 1.5 * IQR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Classifying the outlier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Errors &lt; lower fence 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 (Underestimations)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Errors &gt; upper fence 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 (Overestimations)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Binary classification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allow us to fit a Logistic Regression / Extreme Gradient Boosting model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 txBox="1"/>
          <p:nvPr/>
        </p:nvSpPr>
        <p:spPr>
          <a:xfrm>
            <a:off x="817070" y="345900"/>
            <a:ext cx="7509859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GB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1: UNDER- vs OVER- ESTIMATIONS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rot="10800000">
            <a:off x="-250176" y="794338"/>
            <a:ext cx="9601200" cy="9144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519850" y="1249550"/>
            <a:ext cx="8169000" cy="3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Columns dropped before model fitting: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Observed temperature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 temperature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Observed precipitation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annual precipitation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Koppen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(climate zone classifier based on local vegetation)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 rot="10800000">
            <a:off x="1992718" y="801772"/>
            <a:ext cx="5120640" cy="9144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 txBox="1"/>
          <p:nvPr/>
        </p:nvSpPr>
        <p:spPr>
          <a:xfrm>
            <a:off x="1673244" y="392571"/>
            <a:ext cx="5797511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GB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1: MODELING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/>
        </p:nvSpPr>
        <p:spPr>
          <a:xfrm>
            <a:off x="519850" y="1249550"/>
            <a:ext cx="8169000" cy="3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1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Logistic Regression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dirty="0"/>
              <a:t>     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LASSO for feature selection and bi-directional stepwise selection for    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4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optimization (AIC)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2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Extreme Gradient Boosting Classifier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LASSO for feature selection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3"/>
          <p:cNvSpPr txBox="1"/>
          <p:nvPr/>
        </p:nvSpPr>
        <p:spPr>
          <a:xfrm>
            <a:off x="1673244" y="392571"/>
            <a:ext cx="5797511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GB" sz="25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1: MODELING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3"/>
          <p:cNvSpPr/>
          <p:nvPr/>
        </p:nvSpPr>
        <p:spPr>
          <a:xfrm rot="10800000">
            <a:off x="1992718" y="801772"/>
            <a:ext cx="5120640" cy="9144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" name="Google Shape;155;p33"/>
          <p:cNvGraphicFramePr/>
          <p:nvPr>
            <p:extLst>
              <p:ext uri="{D42A27DB-BD31-4B8C-83A1-F6EECF244321}">
                <p14:modId xmlns:p14="http://schemas.microsoft.com/office/powerpoint/2010/main" val="383905970"/>
              </p:ext>
            </p:extLst>
          </p:nvPr>
        </p:nvGraphicFramePr>
        <p:xfrm>
          <a:off x="952500" y="4061369"/>
          <a:ext cx="7239000" cy="792420"/>
        </p:xfrm>
        <a:graphic>
          <a:graphicData uri="http://schemas.openxmlformats.org/drawingml/2006/table">
            <a:tbl>
              <a:tblPr>
                <a:noFill/>
                <a:tableStyleId>{61E668D2-18A6-418F-8F41-66742138CD80}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sng" strike="noStrike" cap="none" dirty="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sz="1400" u="sng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sng" strike="noStrike" cap="none">
                          <a:solidFill>
                            <a:schemeClr val="dk1"/>
                          </a:solidFill>
                        </a:rPr>
                        <a:t>AUC</a:t>
                      </a:r>
                      <a:endParaRPr sz="1400" u="sng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sng" strike="noStrike" cap="none">
                          <a:solidFill>
                            <a:schemeClr val="dk1"/>
                          </a:solidFill>
                        </a:rPr>
                        <a:t>Accuracy</a:t>
                      </a:r>
                      <a:endParaRPr sz="1400" u="sng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sng" strike="noStrike" cap="none">
                          <a:solidFill>
                            <a:schemeClr val="dk1"/>
                          </a:solidFill>
                        </a:rPr>
                        <a:t>AUC</a:t>
                      </a:r>
                      <a:endParaRPr sz="1400" u="sng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67.5%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0.708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70.4%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0.768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6" name="Google Shape;156;p33"/>
          <p:cNvGraphicFramePr/>
          <p:nvPr>
            <p:extLst>
              <p:ext uri="{D42A27DB-BD31-4B8C-83A1-F6EECF244321}">
                <p14:modId xmlns:p14="http://schemas.microsoft.com/office/powerpoint/2010/main" val="354294481"/>
              </p:ext>
            </p:extLst>
          </p:nvPr>
        </p:nvGraphicFramePr>
        <p:xfrm>
          <a:off x="952500" y="3663034"/>
          <a:ext cx="7239000" cy="396225"/>
        </p:xfrm>
        <a:graphic>
          <a:graphicData uri="http://schemas.openxmlformats.org/drawingml/2006/table">
            <a:tbl>
              <a:tblPr>
                <a:noFill/>
                <a:tableStyleId>{61E668D2-18A6-418F-8F41-66742138CD80}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b="1" u="none" strike="noStrike" cap="none">
                          <a:solidFill>
                            <a:schemeClr val="dk1"/>
                          </a:solidFill>
                        </a:rPr>
                        <a:t>Model 1 (</a:t>
                      </a:r>
                      <a:r>
                        <a:rPr lang="en-GB" sz="1400" b="1" u="none" strike="noStrike" cap="none">
                          <a:solidFill>
                            <a:srgbClr val="FF0000"/>
                          </a:solidFill>
                        </a:rPr>
                        <a:t>Logistic Regression</a:t>
                      </a:r>
                      <a:r>
                        <a:rPr lang="en-GB" sz="1400" b="1" u="none" strike="noStrike" cap="none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b="1" u="none" strike="noStrike" cap="none" dirty="0">
                          <a:solidFill>
                            <a:schemeClr val="dk1"/>
                          </a:solidFill>
                        </a:rPr>
                        <a:t>Model 2 (</a:t>
                      </a:r>
                      <a:r>
                        <a:rPr lang="en-GB" sz="1400" b="1" u="none" strike="noStrike" cap="none" dirty="0">
                          <a:solidFill>
                            <a:srgbClr val="6AA84F"/>
                          </a:solidFill>
                        </a:rPr>
                        <a:t>Extreme Gradient Boosting</a:t>
                      </a:r>
                      <a:r>
                        <a:rPr lang="en-GB" sz="1400" b="1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/>
        </p:nvSpPr>
        <p:spPr>
          <a:xfrm>
            <a:off x="1471962" y="333099"/>
            <a:ext cx="5998794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GB" sz="25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1: FEATURE IMPORTANCE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4"/>
          <p:cNvSpPr/>
          <p:nvPr/>
        </p:nvSpPr>
        <p:spPr>
          <a:xfrm rot="10800000">
            <a:off x="528187" y="757168"/>
            <a:ext cx="7863840" cy="9144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4"/>
          <p:cNvPicPr preferRelativeResize="0"/>
          <p:nvPr/>
        </p:nvPicPr>
        <p:blipFill rotWithShape="1">
          <a:blip r:embed="rId3">
            <a:alphaModFix/>
          </a:blip>
          <a:srcRect l="257" r="247"/>
          <a:stretch/>
        </p:blipFill>
        <p:spPr>
          <a:xfrm>
            <a:off x="587309" y="863477"/>
            <a:ext cx="7768100" cy="41846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/>
          <p:nvPr/>
        </p:nvSpPr>
        <p:spPr>
          <a:xfrm>
            <a:off x="1471962" y="347967"/>
            <a:ext cx="5998794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GB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1: FEATURE IMPORTANCE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5"/>
          <p:cNvSpPr/>
          <p:nvPr/>
        </p:nvSpPr>
        <p:spPr>
          <a:xfrm rot="10800000">
            <a:off x="528187" y="757168"/>
            <a:ext cx="7863840" cy="9144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33" y="908082"/>
            <a:ext cx="8318051" cy="41388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36"/>
          <p:cNvGraphicFramePr/>
          <p:nvPr>
            <p:extLst>
              <p:ext uri="{D42A27DB-BD31-4B8C-83A1-F6EECF244321}">
                <p14:modId xmlns:p14="http://schemas.microsoft.com/office/powerpoint/2010/main" val="159076215"/>
              </p:ext>
            </p:extLst>
          </p:nvPr>
        </p:nvGraphicFramePr>
        <p:xfrm>
          <a:off x="952500" y="402375"/>
          <a:ext cx="7239000" cy="4502645"/>
        </p:xfrm>
        <a:graphic>
          <a:graphicData uri="http://schemas.openxmlformats.org/drawingml/2006/table">
            <a:tbl>
              <a:tblPr>
                <a:noFill/>
                <a:tableStyleId>{61E668D2-18A6-418F-8F41-66742138CD80}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F0000"/>
                          </a:solidFill>
                        </a:rPr>
                        <a:t>Overestimation</a:t>
                      </a:r>
                      <a:endParaRPr sz="18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002060"/>
                          </a:solidFill>
                        </a:rPr>
                        <a:t>Underestimation</a:t>
                      </a:r>
                      <a:endParaRPr sz="1800" b="1" u="none" strike="noStrike" cap="none">
                        <a:solidFill>
                          <a:srgbClr val="002060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475">
                <a:tc>
                  <a:txBody>
                    <a:bodyPr/>
                    <a:lstStyle/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</a:rPr>
                        <a:t>Higher longitude</a:t>
                      </a:r>
                      <a:endParaRPr sz="1400" u="none" strike="noStrike" cap="none" dirty="0"/>
                    </a:p>
                    <a:p>
                      <a:pPr marL="12700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</a:rPr>
                        <a:t>Lower latitude</a:t>
                      </a:r>
                      <a:endParaRPr sz="1400" u="none" strike="noStrike" cap="none" dirty="0"/>
                    </a:p>
                    <a:p>
                      <a:pPr marL="5143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</a:rPr>
                        <a:t>Forecast for high temperature</a:t>
                      </a:r>
                      <a:endParaRPr sz="1400" u="none" strike="noStrike" cap="none" dirty="0"/>
                    </a:p>
                    <a:p>
                      <a:pPr marL="4127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</a:rPr>
                        <a:t>Extremely high or lower ‘</a:t>
                      </a:r>
                      <a:r>
                        <a:rPr lang="en-GB" sz="1600" u="none" strike="noStrike" cap="none" dirty="0" err="1">
                          <a:solidFill>
                            <a:schemeClr val="dk1"/>
                          </a:solidFill>
                        </a:rPr>
                        <a:t>elevation_change_four</a:t>
                      </a: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</a:rPr>
                        <a:t>’</a:t>
                      </a:r>
                      <a:endParaRPr sz="1400" u="none" strike="noStrike" cap="none" dirty="0"/>
                    </a:p>
                    <a:p>
                      <a:pPr marL="4127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</a:rPr>
                        <a:t>Medium to high elevation</a:t>
                      </a:r>
                      <a:endParaRPr sz="1400" u="none" strike="noStrike" cap="none" dirty="0"/>
                    </a:p>
                    <a:p>
                      <a:pPr marL="4127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</a:rPr>
                        <a:t>Higher or extremely low wind speeds</a:t>
                      </a:r>
                      <a:endParaRPr sz="1600" u="none" strike="noStrike" cap="none" dirty="0"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/>
                        <a:t>Lower longitude</a:t>
                      </a:r>
                      <a:endParaRPr sz="1600" u="none" strike="noStrike" cap="none" dirty="0"/>
                    </a:p>
                    <a:p>
                      <a:pPr marL="7429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endParaRPr sz="1600" u="none" strike="noStrike" cap="none" dirty="0"/>
                    </a:p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/>
                        <a:t>Forecast for low temperature</a:t>
                      </a:r>
                      <a:endParaRPr sz="1600" u="none" strike="noStrike" cap="none" dirty="0"/>
                    </a:p>
                    <a:p>
                      <a:pPr marL="7429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endParaRPr sz="1600" u="none" strike="noStrike" cap="none" dirty="0"/>
                    </a:p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/>
                        <a:t>High </a:t>
                      </a:r>
                      <a:r>
                        <a:rPr lang="en-GB" sz="1600" u="none" strike="noStrike" cap="none" dirty="0" err="1"/>
                        <a:t>elevation_change_four</a:t>
                      </a:r>
                      <a:endParaRPr sz="1600" u="none" strike="noStrike" cap="none" dirty="0"/>
                    </a:p>
                    <a:p>
                      <a:pPr marL="7429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endParaRPr sz="1600" u="none" strike="noStrike" cap="none" dirty="0"/>
                    </a:p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/>
                        <a:t>Extremely high elevation</a:t>
                      </a:r>
                      <a:endParaRPr sz="1600" u="none" strike="noStrike" cap="none" dirty="0"/>
                    </a:p>
                    <a:p>
                      <a:pPr marL="7429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endParaRPr sz="1600" u="none" strike="noStrike" cap="none" dirty="0"/>
                    </a:p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/>
                        <a:t>Forecast made on the month of January, February, or March</a:t>
                      </a:r>
                      <a:endParaRPr sz="1600" u="none" strike="noStrike" cap="none" dirty="0"/>
                    </a:p>
                    <a:p>
                      <a:pPr marL="7429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endParaRPr sz="1600" u="none" strike="noStrike" cap="none" dirty="0"/>
                    </a:p>
                    <a:p>
                      <a:pPr marL="469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en-GB" sz="1600" u="none" strike="noStrike" cap="none" dirty="0"/>
                        <a:t>Sunny forecast outlook</a:t>
                      </a:r>
                      <a:endParaRPr sz="1600" u="none" strike="noStrike" cap="none" dirty="0"/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/>
          <p:nvPr/>
        </p:nvSpPr>
        <p:spPr>
          <a:xfrm>
            <a:off x="497625" y="920841"/>
            <a:ext cx="7367400" cy="13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</a:t>
            </a:r>
            <a:r>
              <a:rPr lang="en-GB" sz="1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factors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contribute to </a:t>
            </a:r>
            <a:r>
              <a:rPr lang="en-GB" sz="1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accurate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temperature predictions? Our definition of accurate 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points within boxplot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54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utilize a </a:t>
            </a:r>
            <a:r>
              <a:rPr lang="en-GB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GB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KBest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algorithm based on </a:t>
            </a:r>
            <a:r>
              <a:rPr lang="en-GB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 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lm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to perform feature selection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350" y="2123350"/>
            <a:ext cx="6586223" cy="29800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7"/>
          <p:cNvSpPr txBox="1"/>
          <p:nvPr/>
        </p:nvSpPr>
        <p:spPr>
          <a:xfrm>
            <a:off x="857137" y="357230"/>
            <a:ext cx="7429725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GB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2: MORE ACCURATE PREDICTIONS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7"/>
          <p:cNvSpPr/>
          <p:nvPr/>
        </p:nvSpPr>
        <p:spPr>
          <a:xfrm rot="10800000">
            <a:off x="-297008" y="801772"/>
            <a:ext cx="9692640" cy="9144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625" y="537275"/>
            <a:ext cx="7696748" cy="435422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9" name="Google Shape;189;p38"/>
          <p:cNvSpPr txBox="1"/>
          <p:nvPr/>
        </p:nvSpPr>
        <p:spPr>
          <a:xfrm>
            <a:off x="609962" y="53399"/>
            <a:ext cx="2869218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#1: </a:t>
            </a:r>
            <a:r>
              <a:rPr lang="en-GB" sz="21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Month</a:t>
            </a:r>
            <a:endParaRPr sz="2100" b="1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810" y="564311"/>
            <a:ext cx="7628391" cy="444394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5" name="Google Shape;195;p39"/>
          <p:cNvSpPr txBox="1"/>
          <p:nvPr/>
        </p:nvSpPr>
        <p:spPr>
          <a:xfrm>
            <a:off x="609961" y="53399"/>
            <a:ext cx="4192497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#2: </a:t>
            </a:r>
            <a:r>
              <a:rPr lang="en-GB" sz="21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Forecast Outlook</a:t>
            </a:r>
            <a:endParaRPr sz="2100" b="1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245" y="550128"/>
            <a:ext cx="7513930" cy="43259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1" name="Google Shape;201;p40"/>
          <p:cNvSpPr txBox="1"/>
          <p:nvPr/>
        </p:nvSpPr>
        <p:spPr>
          <a:xfrm>
            <a:off x="609961" y="53399"/>
            <a:ext cx="5738799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#3: </a:t>
            </a:r>
            <a:r>
              <a:rPr lang="en-GB" sz="21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Type of Temperature Forecast</a:t>
            </a:r>
            <a:endParaRPr sz="2100" b="1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1;p40">
            <a:extLst>
              <a:ext uri="{FF2B5EF4-FFF2-40B4-BE49-F238E27FC236}">
                <a16:creationId xmlns:a16="http://schemas.microsoft.com/office/drawing/2014/main" id="{8F0C2F6C-62D2-2DD7-C37C-E023932DCC45}"/>
              </a:ext>
            </a:extLst>
          </p:cNvPr>
          <p:cNvSpPr txBox="1"/>
          <p:nvPr/>
        </p:nvSpPr>
        <p:spPr>
          <a:xfrm>
            <a:off x="609961" y="53399"/>
            <a:ext cx="7917005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#4: </a:t>
            </a:r>
            <a:r>
              <a:rPr lang="en-GB" sz="2100" b="1" dirty="0">
                <a:solidFill>
                  <a:srgbClr val="002060"/>
                </a:solidFill>
              </a:rPr>
              <a:t>Location (City, State, Region, Longitude) </a:t>
            </a:r>
            <a:endParaRPr sz="2100" b="1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DDD0D-5752-5479-326C-6F9CE6EB9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35" y="617034"/>
            <a:ext cx="7835231" cy="44730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9080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1;p34">
            <a:extLst>
              <a:ext uri="{FF2B5EF4-FFF2-40B4-BE49-F238E27FC236}">
                <a16:creationId xmlns:a16="http://schemas.microsoft.com/office/drawing/2014/main" id="{7B065E71-0C00-68AE-C448-8221BA9F846E}"/>
              </a:ext>
            </a:extLst>
          </p:cNvPr>
          <p:cNvSpPr txBox="1"/>
          <p:nvPr/>
        </p:nvSpPr>
        <p:spPr>
          <a:xfrm>
            <a:off x="1471962" y="333099"/>
            <a:ext cx="5998794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9;p35">
            <a:extLst>
              <a:ext uri="{FF2B5EF4-FFF2-40B4-BE49-F238E27FC236}">
                <a16:creationId xmlns:a16="http://schemas.microsoft.com/office/drawing/2014/main" id="{59666294-69AA-2454-DF8B-794653C610F2}"/>
              </a:ext>
            </a:extLst>
          </p:cNvPr>
          <p:cNvSpPr/>
          <p:nvPr/>
        </p:nvSpPr>
        <p:spPr>
          <a:xfrm rot="10800000">
            <a:off x="3066959" y="757168"/>
            <a:ext cx="2834640" cy="91440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8;p31">
            <a:extLst>
              <a:ext uri="{FF2B5EF4-FFF2-40B4-BE49-F238E27FC236}">
                <a16:creationId xmlns:a16="http://schemas.microsoft.com/office/drawing/2014/main" id="{34FE7AF4-3822-E9C3-671A-EA0BE38E2A2E}"/>
              </a:ext>
            </a:extLst>
          </p:cNvPr>
          <p:cNvSpPr txBox="1"/>
          <p:nvPr/>
        </p:nvSpPr>
        <p:spPr>
          <a:xfrm>
            <a:off x="424925" y="1086300"/>
            <a:ext cx="7671900" cy="29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Weakness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dirty="0"/>
              <a:t>Definitions used for accurate, overestimated, and underestimated predictions</a:t>
            </a:r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actual definition by weather forecasters</a:t>
            </a:r>
          </a:p>
          <a:p>
            <a:pPr marL="114300" lvl="8">
              <a:buSzPts val="1800"/>
            </a:pPr>
            <a:r>
              <a:rPr lang="en-GB" sz="1800" dirty="0"/>
              <a:t>     - Maybe stricter in what they consider accurate, overestimations, and </a:t>
            </a:r>
          </a:p>
          <a:p>
            <a:pPr marL="114300" lvl="8">
              <a:buSzPts val="1800"/>
            </a:pPr>
            <a:r>
              <a:rPr lang="en-GB" sz="1800" dirty="0"/>
              <a:t>       underestimations</a:t>
            </a:r>
            <a:endParaRPr lang="en-GB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GB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dirty="0"/>
              <a:t>Find a model capable of predicting the errors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407</Words>
  <Application>Microsoft Office PowerPoint</Application>
  <PresentationFormat>On-screen Show (16:9)</PresentationFormat>
  <Paragraphs>124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Courier New</vt:lpstr>
      <vt:lpstr>Simple Light</vt:lpstr>
      <vt:lpstr>Simple Light</vt:lpstr>
      <vt:lpstr>Data Challenge 2023</vt:lpstr>
      <vt:lpstr>MAIN QUESTIONS OF INTEREST</vt:lpstr>
      <vt:lpstr>HYPOTHESIS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Challenge 2023</dc:title>
  <cp:lastModifiedBy>Faris Hazim</cp:lastModifiedBy>
  <cp:revision>32</cp:revision>
  <dcterms:modified xsi:type="dcterms:W3CDTF">2026-01-24T13:37:55Z</dcterms:modified>
</cp:coreProperties>
</file>